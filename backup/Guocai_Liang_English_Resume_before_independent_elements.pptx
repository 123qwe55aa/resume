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07cfa9f583f41b4" Type="http://schemas.openxmlformats.org/package/2006/relationships/metadata/core-properties" Target="docProps/core.xml"/><Relationship Id="R2c639d9e82a94e17" Type="http://schemas.openxmlformats.org/officeDocument/2006/relationships/extended-properties" Target="docProps/app.xml"/><Relationship Id="Rdadcb2b3d5bc49a6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c5f91872db4840"/>
  </p:sldMasterIdLst>
  <p:notesMasterIdLst>
    <p:notesMasterId xmlns:r="http://schemas.openxmlformats.org/officeDocument/2006/relationships" r:id="Rb3395d46a1a541e6"/>
  </p:notesMasterIdLst>
  <p:sldIdLst>
    <p:sldId xmlns:r="http://schemas.openxmlformats.org/officeDocument/2006/relationships" id="256" r:id="R36d1461849e24ec9"/>
  </p:sldIdLst>
  <p:sldSz cx="7772400" cy="100584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36c5f91872db4840" Type="http://schemas.openxmlformats.org/officeDocument/2006/relationships/slideMaster" Target="slideMasters/slideMaster1.xml"/><Relationship Id="R36d1461849e24ec9" Type="http://schemas.openxmlformats.org/officeDocument/2006/relationships/slide" Target="slides/slide1.xml"/><Relationship Id="R435d93d02243401b" Type="http://schemas.openxmlformats.org/officeDocument/2006/relationships/tableStyles" Target="tableStyles.xml"/><Relationship Id="R5878939bd6964686" Type="http://schemas.openxmlformats.org/officeDocument/2006/relationships/theme" Target="theme/theme1.xml"/><Relationship Id="Rb3395d46a1a541e6" Type="http://schemas.openxmlformats.org/officeDocument/2006/relationships/notesMaster" Target="notesMasters/notesMaster1.xml"/><Relationship Id="Re1762ca234f846df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5f20698bbd2c477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ac425bda94e4136" Type="http://schemas.openxmlformats.org/officeDocument/2006/relationships/notesMaster" Target="../notesMasters/notesMaster1.xml"/><Relationship Id="Rf587a2d2b6754be2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3d4a91b2e454b9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c14341de1674b37" Type="http://schemas.openxmlformats.org/officeDocument/2006/relationships/slideLayout" Target="../slideLayouts/slideLayout1.xml"/><Relationship Id="Rb755adc2c2a54d5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14341de1674b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6ef1493c86a4d43" Type="http://schemas.openxmlformats.org/officeDocument/2006/relationships/notesSlide" Target="../notesSlides/notesSlide1.xml"/><Relationship Id="Ra2a70c28c3a140ec" Type="http://schemas.openxmlformats.org/officeDocument/2006/relationships/slideLayout" Target="../slideLayouts/slideLayout1.xml"/><Relationship Id="Rede4f374bc0c4dcb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4f374bc0c4dcb"/>
          <a:srcRect xmlns:a="http://schemas.openxmlformats.org/drawingml/2006/main" l="0" t="305" r="0" b="3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266700"/>
            <a:ext cx="647700" cy="857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ACEFC-871C-446D-B345-E4658B2C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4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Guocai Liang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4F345-E3E9-4786-83D2-85D427B8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1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10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Resume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38C38-E05E-424E-AB36-DF859605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620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algn="ctr">
              <a:lnSpc>
                <a:spcPct val="80000"/>
              </a:lnSpc>
              <a:buNone/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Phone 13356567960  |  Email tobyrunninglc@gmail.com  |  GitHub 123qwe55aa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211CD-B3AC-48AB-962D-0C34F9E2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9525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algn="ctr">
              <a:lnSpc>
                <a:spcPct val="80000"/>
              </a:lnSpc>
              <a:buNone/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Website tobyleons.xyz  |  Jiangmen, Guangdong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E7E7D-D9A4-40CC-BE4D-2CE33C17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23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Education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6EC86-EB6B-40FA-836D-DFC0B072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319450"/>
            <a:ext cx="72390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BDBFA-1AB0-49D7-9B44-13CD543D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33540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101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Dalian Polytechnic University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CFC14-7753-41A0-938F-78FDBFF6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3540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algn="r">
              <a:lnSpc>
                <a:spcPct val="80000"/>
              </a:lnSpc>
              <a:buNone/>
              <a:defRPr sz="101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Expected Jun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405A5-C755-4562-A43A-B68E1342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2590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95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Inorganic Nonmetallic Materials Engineering    Bachelor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2F111-5A1E-4FE9-A533-2C41D3DF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9735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marL="12" indent="-10" algn="l">
              <a:lnSpc>
                <a:spcPct val="80000"/>
              </a:lnSpc>
              <a:buNone/>
              <a:defRPr sz="76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Core courses: Advanced Mathematics, University Physics, Glass Industry Furnace Design, Fundamentals of Inorganic Materials Science, Fundamentals of Mechanical Design, and more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4B2B8-0445-4183-B6E0-42241C03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4500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 and Campus Experience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47EF0-8593-4B90-A658-D078830C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40505"/>
            <a:ext cx="72390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E9C21-83EF-423B-B39C-1CF2017B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670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99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9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Meituan | Delivery Rider | Shenzhen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46637-C844-43EF-B1F1-833B0815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67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algn="r">
              <a:lnSpc>
                <a:spcPct val="80000"/>
              </a:lnSpc>
              <a:buNone/>
              <a:defRPr sz="99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9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Aug 2025 - Sep 2025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D22BFF-1C79-4616-BF61-576AC9EE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057525"/>
            <a:ext cx="7000875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marL="12" indent="-10" algn="l">
              <a:lnSpc>
                <a:spcPct val="80000"/>
              </a:lnSpc>
              <a:buNone/>
              <a:defRPr sz="74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4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Order fulfillment: Delivered restaurant orders in the assigned area, checked order details, and ensured accurate, on-time delivery.</a:t>
            </a:r>
          </a:p>
          <a:p xmlns:a="http://schemas.openxmlformats.org/drawingml/2006/main">
            <a:pPr marL="12" indent="-10" algn="l">
              <a:lnSpc>
                <a:spcPct val="80000"/>
              </a:lnSpc>
              <a:buNone/>
              <a:defRPr sz="74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4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Route planning: Used GPS and navigation tools to plan routes, improving efficiency and reducing delays.</a:t>
            </a:r>
          </a:p>
          <a:p xmlns:a="http://schemas.openxmlformats.org/drawingml/2006/main">
            <a:pPr marL="12" indent="-10" algn="l">
              <a:lnSpc>
                <a:spcPct val="80000"/>
              </a:lnSpc>
              <a:buNone/>
              <a:defRPr sz="74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4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Customer communication: Resolved issues during delivery and maintained clear communication with customers.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D508E-E235-42B7-A223-D6ED7852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7759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982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82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Hello Inc. | Customer Service Representative | Shenzhen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EF621F-D5AE-4966-A8D0-09B3396C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7759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algn="r">
              <a:lnSpc>
                <a:spcPct val="80000"/>
              </a:lnSpc>
              <a:buNone/>
              <a:defRPr sz="99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9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Aug 2024 - Sep 2024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BED06-2D03-4F32-9236-286DB7F5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68090"/>
            <a:ext cx="7000875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marL="12" indent="-10" algn="l">
              <a:lnSpc>
                <a:spcPct val="80000"/>
              </a:lnSpc>
              <a:buNone/>
              <a:defRPr sz="74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4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Complaint handling: Responded quickly to customer inquiries and complaints, driving issues to closure and protecting the customer experience.</a:t>
            </a:r>
          </a:p>
          <a:p xmlns:a="http://schemas.openxmlformats.org/drawingml/2006/main">
            <a:pPr marL="12" indent="-10" algn="l">
              <a:lnSpc>
                <a:spcPct val="80000"/>
              </a:lnSpc>
              <a:buNone/>
              <a:defRPr sz="74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4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Relationship management: Built trust through patient communication and improved customer satisfaction.</a:t>
            </a:r>
          </a:p>
          <a:p xmlns:a="http://schemas.openxmlformats.org/drawingml/2006/main">
            <a:pPr marL="12" indent="-10" algn="l">
              <a:lnSpc>
                <a:spcPct val="80000"/>
              </a:lnSpc>
              <a:buNone/>
              <a:defRPr sz="74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4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Issue logging: Documented common issues and resolutions to support future service improvements.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A3DA64-C5E0-4749-80F7-FBF1B74D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28815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982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82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e-Gongda Club | Video Photography and Project Operations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F3F5DB-9750-46E1-96E8-DC0F8CEC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8815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algn="r">
              <a:lnSpc>
                <a:spcPct val="80000"/>
              </a:lnSpc>
              <a:buNone/>
              <a:defRPr sz="99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9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2021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6F41F6-C110-4A28-A58A-B9DE0A0D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478655"/>
            <a:ext cx="7000875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marL="12" indent="-10" algn="l">
              <a:lnSpc>
                <a:spcPct val="80000"/>
              </a:lnSpc>
              <a:buNone/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Video photography: Served as the club video photographer, responsible for event footage and asset organization.</a:t>
            </a:r>
          </a:p>
          <a:p xmlns:a="http://schemas.openxmlformats.org/drawingml/2006/main">
            <a:pPr marL="12" indent="-10" algn="l">
              <a:lnSpc>
                <a:spcPct val="80000"/>
              </a:lnSpc>
              <a:buNone/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Project operations: Helped run a dorm snack box project by supporting restocking, records, and daily operations.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67056D-1FA2-45EF-8F54-44ABBDAC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80991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4D833F-90D1-4A54-A76A-16502EC9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076491"/>
            <a:ext cx="72390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8B9D0A-82DD-47A8-AB36-7ED0093B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092446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1013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Dorm Snack Box Operations Project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FAF96C-38ED-4A2C-A5B9-C03E11FB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92446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algn="r">
              <a:lnSpc>
                <a:spcPct val="80000"/>
              </a:lnSpc>
              <a:buNone/>
              <a:defRPr sz="99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9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2021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973BF4-0F4A-47F4-A3BB-9CAF2085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82946"/>
            <a:ext cx="700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marL="12" indent="-10" algn="l">
              <a:lnSpc>
                <a:spcPct val="80000"/>
              </a:lnSpc>
              <a:buNone/>
              <a:defRPr sz="74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4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Project scope: Supported daily operations, stock replenishment, and record keeping for a dorm-based snack box project.</a:t>
            </a:r>
          </a:p>
          <a:p xmlns:a="http://schemas.openxmlformats.org/drawingml/2006/main">
            <a:pPr marL="12" indent="-10" algn="l">
              <a:lnSpc>
                <a:spcPct val="80000"/>
              </a:lnSpc>
              <a:buNone/>
              <a:defRPr sz="74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43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Operations support: Tracked product consumption and replenishment timing, adjusted product mix based on peer feedback, and improved operational stability.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921FB4-43DC-4E59-A504-3924B9EF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702046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D3A077-C816-4E7A-AF71-32BEEA63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897546"/>
            <a:ext cx="72390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709166-4620-4276-9D27-47C9C96D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913501"/>
            <a:ext cx="7000875" cy="817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marL="12" indent="-10" algn="l">
              <a:lnSpc>
                <a:spcPct val="80000"/>
              </a:lnSpc>
              <a:buNone/>
              <a:defRPr sz="72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2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Language: IELTS 6.0; professional working proficiency in English; native/bilingual in Mandarin and Cantonese.</a:t>
            </a:r>
          </a:p>
          <a:p xmlns:a="http://schemas.openxmlformats.org/drawingml/2006/main">
            <a:pPr marL="12" indent="-10" algn="l">
              <a:lnSpc>
                <a:spcPct val="80000"/>
              </a:lnSpc>
              <a:buNone/>
              <a:defRPr sz="72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2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Professional skills: Basic materials testing, quality awareness, technical writing, project coordination, and execution.</a:t>
            </a:r>
          </a:p>
          <a:p xmlns:a="http://schemas.openxmlformats.org/drawingml/2006/main">
            <a:pPr marL="12" indent="-10" algn="l">
              <a:lnSpc>
                <a:spcPct val="80000"/>
              </a:lnSpc>
              <a:buNone/>
              <a:defRPr sz="72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2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Data skills: Data analysis and information organization; able to use digital tools to improve efficiency.</a:t>
            </a:r>
          </a:p>
          <a:p xmlns:a="http://schemas.openxmlformats.org/drawingml/2006/main">
            <a:pPr marL="12" indent="-10" algn="l">
              <a:lnSpc>
                <a:spcPct val="80000"/>
              </a:lnSpc>
              <a:buNone/>
              <a:defRPr sz="72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2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Certifications and licenses: Driver's license; IELTS 6.0.</a:t>
            </a:r>
          </a:p>
          <a:p xmlns:a="http://schemas.openxmlformats.org/drawingml/2006/main">
            <a:pPr marL="12" indent="-10" algn="l">
              <a:lnSpc>
                <a:spcPct val="80000"/>
              </a:lnSpc>
              <a:buNone/>
              <a:defRPr sz="72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2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Links: GitHub: github.com/123qwe55aa; website: tobyleons.xyz.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5203C6-6BA1-4352-BBF6-90BC4216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730746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34C694-F53B-4362-B9EC-B76F9417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926246"/>
            <a:ext cx="72390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9DE8E5-0CA5-4FD3-9290-06F846F5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942201"/>
            <a:ext cx="700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8300" tIns="18300" rIns="18300" bIns="18300" anchor="t"/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Background in customer service, project execution, data analysis, and materials engineering. Able to maintain careful, steady execution in fast-paced frontline and service roles, with a strong focus on communication, feedback, and issue closure. Well suited to service operations, project support, and quality or materials-related roles.</a:t>
            </a:r>
          </a:p>
        </p:txBody>
      </p:sp>
      <p:sp xmlns:a="http://schemas.openxmlformats.org/drawingml/2006/main">
        <p:nvSpPr>
          <p:cNvPr id="36" name="TextBox 35"/>
          <p:cNvSpPr txBox="1"/>
          <p:nvPr/>
        </p:nvSpPr>
        <p:spPr>
          <a:xfrm>
            <a:off x="266700" y="2156460"/>
            <a:ext cx="4953000" cy="190500"/>
          </a:xfrm>
          <a:prstGeom prst="rect">
            <a:avLst/>
          </a:prstGeom>
          <a:noFill/>
        </p:spPr>
        <p:txBody>
          <a:bodyPr wrap="square" lIns="18300" rIns="18300" tIns="18300" bIns="18300">
            <a:spAutoFit/>
          </a:bodyPr>
          <a:lstStyle/>
          <a:p>
            <a:r>
              <a:rPr sz="1000" b="1">
                <a:solidFill>
                  <a:srgbClr val="2E75B6"/>
                </a:solidFill>
                <a:latin typeface="Arial"/>
              </a:rPr>
              <a:t>Shenzhen Energy Group (深圳能源环保) | Information Security Assistant | Shenzhen</a:t>
            </a:r>
            <a:pPr>
              <a:lnSpc>
                <a:spcPct val="80000"/>
              </a:lnSpc>
            </a:pPr>
          </a:p>
        </p:txBody>
      </p:sp>
      <p:sp xmlns:a="http://schemas.openxmlformats.org/drawingml/2006/main">
        <p:nvSpPr>
          <p:cNvPr id="37" name="TextBox 36"/>
          <p:cNvSpPr txBox="1"/>
          <p:nvPr/>
        </p:nvSpPr>
        <p:spPr>
          <a:xfrm>
            <a:off x="5810250" y="2156460"/>
            <a:ext cx="1587500" cy="190500"/>
          </a:xfrm>
          <a:prstGeom prst="rect">
            <a:avLst/>
          </a:prstGeom>
          <a:noFill/>
        </p:spPr>
        <p:txBody>
          <a:bodyPr wrap="square" lIns="18300" rIns="18300" tIns="18300" bIns="18300">
            <a:spAutoFit/>
          </a:bodyPr>
          <a:lstStyle/>
          <a:p>
            <a:pPr algn="r">
              <a:lnSpc>
                <a:spcPct val="80000"/>
              </a:lnSpc>
            </a:pPr>
            <a:r>
              <a:rPr sz="1000">
                <a:solidFill>
                  <a:srgbClr val="111111"/>
                </a:solidFill>
                <a:latin typeface="Arial"/>
              </a:rPr>
              <a:t>Jan 2026 - Mar 2026</a:t>
            </a:r>
          </a:p>
        </p:txBody>
      </p:sp>
      <p:sp xmlns:a="http://schemas.openxmlformats.org/drawingml/2006/main">
        <p:nvSpPr>
          <p:cNvPr id="38" name="TextBox 37"/>
          <p:cNvSpPr txBox="1"/>
          <p:nvPr/>
        </p:nvSpPr>
        <p:spPr>
          <a:xfrm>
            <a:off x="266700" y="2346960"/>
            <a:ext cx="7137450" cy="520065"/>
          </a:xfrm>
          <a:prstGeom prst="rect">
            <a:avLst/>
          </a:prstGeom>
          <a:noFill/>
        </p:spPr>
        <p:txBody>
          <a:bodyPr wrap="square" lIns="18300" rIns="18300" tIns="18300" bIns="18300">
            <a:spAutoFit/>
          </a:bodyPr>
          <a:lstStyle/>
          <a:p>
            <a:r>
              <a:rPr sz="900">
                <a:solidFill>
                  <a:srgbClr val="111111"/>
                </a:solidFill>
                <a:latin typeface="Arial"/>
              </a:rPr>
              <a:t>• SOC monitoring: Monitored security events in the Security Operations Center (SOC), recorded and triaged security alerts, and supported initial incident response.
• Security maintenance: Assisted with daily network security maintenance, including real-time information security monitoring and ledger management.
• Documentation: Organized security incident records, maintained cybersecurity ledgers, and consolidated related data for reporting.</a:t>
            </a:r>
            <a:pPr>
              <a:lnSpc>
                <a:spcPct val="8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1099880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2026-07-06T07:38:44.9490000Z</dcterms:created>
  <dcterms:modified xsi:type="dcterms:W3CDTF">2026-07-06T07:38:44.9490000Z</dcterms:modified>
</coreProperties>
</file>